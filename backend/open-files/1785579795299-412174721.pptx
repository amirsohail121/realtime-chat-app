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00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agrams/logo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8686800" cy="8869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" y="1051560"/>
            <a:ext cx="886968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030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VOCATIONAL TRAINING PRESENTATION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</a:t>
            </a:r>
            <a:r>
              <a:rPr lang="en-US" sz="32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APPLICATION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TECHONET PVT LTD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4655489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5029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Amir Sohail (303302223031)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- 6th Sem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Introduction- About project</a:t>
            </a:r>
            <a:endParaRPr lang="en-US" sz="180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project is important in real world ?</a:t>
            </a:r>
            <a:endParaRPr lang="en-US" sz="180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H/W and S/W requirements</a:t>
            </a:r>
            <a:endParaRPr lang="en-US" sz="180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Front-end &amp; Back-end</a:t>
            </a:r>
            <a:endParaRPr lang="en-US" sz="180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 Chart / E-R Diagrams / Block Diagram</a:t>
            </a:r>
            <a:endParaRPr lang="en-US" sz="180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Discussions</a:t>
            </a:r>
            <a:endParaRPr lang="en-US" sz="180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Applications- where project use</a:t>
            </a:r>
            <a:endParaRPr lang="en-US" sz="180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Scope of further work</a:t>
            </a:r>
            <a:endParaRPr lang="en-US" sz="180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80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Acknowledgement of Vocational Training (Student Copy)</a:t>
            </a:r>
            <a:endParaRPr lang="en-US" sz="180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Offer Letter</a:t>
            </a:r>
            <a:endParaRPr lang="en-US" sz="1800" dirty="0"/>
          </a:p>
          <a:p>
            <a:pPr marL="342900" indent="-342900" algn="l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Certificate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Introduction- About project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undertaken during this vocational training is a Real-Time Chat Application built using the MERN stack (MongoDB, Express.js, React.js, and Node.js). The application enables registered users to communicate instantly through one-to-one and group conversations, with real-time delivery of messages powered by Socket.io. The system was designed and developed with an emphasis on secure authentication, clean schema design, and a responsive user interface.</a:t>
            </a:r>
            <a:endParaRPr lang="en-US" sz="1700" dirty="0"/>
          </a:p>
          <a:p>
            <a:pPr marL="0" indent="0" algn="just">
              <a:lnSpc>
                <a:spcPct val="125000"/>
              </a:lnSpc>
              <a:spcAft>
                <a:spcPts val="1400"/>
              </a:spcAft>
              <a:buNone/>
            </a:pPr>
            <a:endParaRPr lang="en-US" sz="1700" dirty="0"/>
          </a:p>
          <a:p>
            <a:pPr marL="0" indent="0" algn="just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application follows a client-server architecture in which the React frontend (served on port 5173) communicates with an Express backend (served on port 5000) through two channels: a REST API for on-demand data operations such as login, registration, OTP verification, and fetching chats or messages; and a persistent Socket.io connection for instantaneous, server-pushed events such as new messages and user online/offline status.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project is important in real world 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communication has become a core requirement for almost every modern web platform, from workplace collaboration tools to customer support and social apps. This project reflects that real-world need: it implements a secure, email-based OTP and JWT authentication flow so only verified users can chat; a scalable MongoDB schema that cleanly represents users, chats, messages, and OTPs; REST APIs built on MVC principles for predictable data handling; and Socket.io-powered real-time messaging and presence updates so conversations feel instant. Building this project gave hands-on, practical experience with the same architecture and concerns - security, scalability, and real-time delivery - that production chat systems (e.g. team-collaboration or support tools) must solve</a:t>
            </a:r>
            <a:r>
              <a:rPr lang="en-US" sz="19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H/W and S/W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90378" y="1188058"/>
            <a:ext cx="8046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REQUIREMENT</a:t>
            </a:r>
            <a:endParaRPr lang="en-US" sz="1700" dirty="0"/>
          </a:p>
          <a:p>
            <a:pPr marL="342900" indent="-342900" algn="l">
              <a:lnSpc>
                <a:spcPct val="125000"/>
              </a:lnSpc>
              <a:spcAft>
                <a:spcPts val="1100"/>
              </a:spcAft>
              <a:buSzPct val="100000"/>
              <a:buChar char="❖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Processor : Dual Core / i3 or higher</a:t>
            </a:r>
            <a:endParaRPr lang="en-US" sz="1700" dirty="0"/>
          </a:p>
          <a:p>
            <a:pPr marL="342900" indent="-342900" algn="l">
              <a:lnSpc>
                <a:spcPct val="125000"/>
              </a:lnSpc>
              <a:spcAft>
                <a:spcPts val="1100"/>
              </a:spcAft>
              <a:buSzPct val="100000"/>
              <a:buChar char="❖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RAM : 8 GB (recommended for running MERN dev servers smoothly)</a:t>
            </a:r>
            <a:endParaRPr lang="en-US" sz="1700" dirty="0"/>
          </a:p>
          <a:p>
            <a:pPr marL="342900" indent="-342900" algn="l">
              <a:lnSpc>
                <a:spcPct val="125000"/>
              </a:lnSpc>
              <a:spcAft>
                <a:spcPts val="1100"/>
              </a:spcAft>
              <a:buSzPct val="100000"/>
              <a:buChar char="❖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Disk : 20 GB free space</a:t>
            </a:r>
            <a:endParaRPr lang="en-US" sz="17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endParaRPr lang="en-US" sz="1700" dirty="0"/>
          </a:p>
          <a:p>
            <a:pPr marL="0" indent="0" algn="l">
              <a:lnSpc>
                <a:spcPct val="125000"/>
              </a:lnSpc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REQUIREMENT</a:t>
            </a:r>
            <a:endParaRPr lang="en-US" sz="1700" dirty="0"/>
          </a:p>
          <a:p>
            <a:pPr marL="342900" indent="-342900" algn="l">
              <a:lnSpc>
                <a:spcPct val="125000"/>
              </a:lnSpc>
              <a:spcAft>
                <a:spcPts val="1100"/>
              </a:spcAft>
              <a:buSzPct val="100000"/>
              <a:buChar char="❖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Node.js (JavaScript runtime for React, Express &amp; Socket.io)</a:t>
            </a:r>
            <a:endParaRPr lang="en-US" sz="1700" dirty="0"/>
          </a:p>
          <a:p>
            <a:pPr marL="342900" indent="-342900" algn="l">
              <a:lnSpc>
                <a:spcPct val="125000"/>
              </a:lnSpc>
              <a:spcAft>
                <a:spcPts val="1100"/>
              </a:spcAft>
              <a:buSzPct val="100000"/>
              <a:buChar char="❖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MongoDB (local or Atlas cloud database)</a:t>
            </a:r>
            <a:endParaRPr lang="en-US" sz="1700" dirty="0"/>
          </a:p>
          <a:p>
            <a:pPr marL="342900" indent="-342900" algn="l">
              <a:lnSpc>
                <a:spcPct val="125000"/>
              </a:lnSpc>
              <a:spcAft>
                <a:spcPts val="1100"/>
              </a:spcAft>
              <a:buSzPct val="100000"/>
              <a:buChar char="❖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Studio Code (code editor)</a:t>
            </a:r>
            <a:endParaRPr lang="en-US" sz="1700" dirty="0"/>
          </a:p>
          <a:p>
            <a:pPr marL="342900" indent="-342900" algn="l">
              <a:lnSpc>
                <a:spcPct val="125000"/>
              </a:lnSpc>
              <a:spcAft>
                <a:spcPts val="1100"/>
              </a:spcAft>
              <a:buSzPct val="100000"/>
              <a:buChar char="❖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 &amp; GitHub (version control)</a:t>
            </a:r>
            <a:endParaRPr lang="en-US" sz="1700" dirty="0"/>
          </a:p>
          <a:p>
            <a:pPr marL="342900" indent="-342900" algn="l">
              <a:lnSpc>
                <a:spcPct val="125000"/>
              </a:lnSpc>
              <a:spcAft>
                <a:spcPts val="1100"/>
              </a:spcAft>
              <a:buSzPct val="100000"/>
              <a:buChar char="❖"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web browser (Chrome / Edge) for testing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Front-end &amp; Back-end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FRONT-END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React.js - component-based UI (sidebar, chat window, message bubbles)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Vite - build tool &amp; dev server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Tailwind CSS - responsive styling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Axios - REST API calls (login, OTP, chats/messages)</a:t>
            </a:r>
            <a:endParaRPr lang="en-US" sz="1600" dirty="0"/>
          </a:p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endParaRPr lang="en-US" sz="1600" dirty="0"/>
          </a:p>
          <a:p>
            <a:pPr marL="0" indent="0" algn="l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BACK-END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Node.js &amp; Express.js - REST routes, middleware, controllers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MongoDB &amp; Mongoose - schema design and ODM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Socket.io - real-time messaging &amp; presence</a:t>
            </a:r>
            <a:endParaRPr lang="en-US" sz="1600" dirty="0"/>
          </a:p>
          <a:p>
            <a:pPr marL="342900" indent="-342900" algn="l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JWT, bcrypt &amp; Nodemailer - authentication, password hashing, OTP email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 Chart / E-R Diagrams / Block Diagram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046720" cy="43539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- Block Diagram</a:t>
            </a:r>
            <a:endParaRPr lang="en-US" sz="2000" dirty="0"/>
          </a:p>
          <a:p>
            <a:pPr marL="342900" indent="-3429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Schema - E-R Diagram</a:t>
            </a:r>
            <a:endParaRPr lang="en-US" sz="2000" dirty="0"/>
          </a:p>
          <a:p>
            <a:pPr marL="342900" indent="-3429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 Flow Chart</a:t>
            </a:r>
            <a:endParaRPr lang="en-US" sz="2000" dirty="0"/>
          </a:p>
          <a:p>
            <a:pPr marL="342900" indent="-342900" algn="l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Communication Flow Chart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 - Block Diagram</a:t>
            </a:r>
            <a:endParaRPr lang="en-US" sz="3400" dirty="0"/>
          </a:p>
        </p:txBody>
      </p:sp>
      <p:pic>
        <p:nvPicPr>
          <p:cNvPr id="3" name="Image 0" descr="diagrams/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188720"/>
            <a:ext cx="5669280" cy="46360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Schema - E-R Diagram</a:t>
            </a:r>
            <a:endParaRPr lang="en-US" sz="3400" dirty="0"/>
          </a:p>
        </p:txBody>
      </p:sp>
      <p:pic>
        <p:nvPicPr>
          <p:cNvPr id="3" name="Image 0" descr="diagrams/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143000"/>
            <a:ext cx="6126480" cy="5376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 Flow Chart</a:t>
            </a:r>
            <a:endParaRPr lang="en-US" sz="3400" dirty="0"/>
          </a:p>
        </p:txBody>
      </p:sp>
      <p:pic>
        <p:nvPicPr>
          <p:cNvPr id="3" name="Image 0" descr="diagrams/auth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097279"/>
            <a:ext cx="4744278" cy="53432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Communication Flow Chart</a:t>
            </a:r>
            <a:endParaRPr lang="en-US" sz="3400" dirty="0"/>
          </a:p>
        </p:txBody>
      </p:sp>
      <p:pic>
        <p:nvPicPr>
          <p:cNvPr id="3" name="Image 0" descr="diagrams/realtim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887" y="1290310"/>
            <a:ext cx="3538993" cy="48189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completed application successfully supports secure registration and login backed by OTP verification and JWT-based sessions, one-to-one and group chat creation, persistent storage of conversations and messages in MongoDB with Mongoose population used to resolve sender and participant references, and instantaneous message delivery and read/online-status updates through Socket.io rooms.</a:t>
            </a:r>
            <a:endParaRPr lang="en-US" sz="1800" dirty="0"/>
          </a:p>
          <a:p>
            <a:pPr marL="0" indent="0" algn="just">
              <a:lnSpc>
                <a:spcPct val="125000"/>
              </a:lnSpc>
              <a:spcAft>
                <a:spcPts val="1800"/>
              </a:spcAft>
              <a:buNone/>
            </a:pPr>
            <a:endParaRPr lang="en-US" sz="1800" dirty="0"/>
          </a:p>
          <a:p>
            <a:pPr marL="0" indent="0" algn="just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challenges included choosing between server-side AES and full end-to-end encryption for message storage, designing an efficient Mongoose population pattern, safely handling partial profile updates, and coordinating the REST-then-socket sequence so a message is durably saved before being broadcast in real time.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Discussions - Screenshots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Email OTP Login</a:t>
            </a:r>
            <a:endParaRPr lang="en-US" sz="1700" dirty="0"/>
          </a:p>
        </p:txBody>
      </p:sp>
      <p:pic>
        <p:nvPicPr>
          <p:cNvPr id="5" name="Image 0" descr="diagrams/screenshot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657600" cy="21890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3674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enters their email to receive a one-time login code.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OTP Verification</a:t>
            </a:r>
            <a:endParaRPr lang="en-US" sz="1700" dirty="0"/>
          </a:p>
        </p:txBody>
      </p:sp>
      <p:pic>
        <p:nvPicPr>
          <p:cNvPr id="8" name="Image 1" descr="diagrams/screenshot_otp_ver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83080"/>
            <a:ext cx="3657600" cy="23390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6320" y="4286707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6-digit OTP sent to the user's email is verified to complete login.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Discussions - Screenshots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Onboarding &amp; Navigation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Profile Setup</a:t>
            </a:r>
            <a:endParaRPr lang="en-US" sz="1700" dirty="0"/>
          </a:p>
        </p:txBody>
      </p:sp>
      <p:pic>
        <p:nvPicPr>
          <p:cNvPr id="5" name="Image 0" descr="diagrams/screenshot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54" y="1783080"/>
            <a:ext cx="2695651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2395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One-time profile setup with photo, name &amp; bio.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Chat List - Sidebar</a:t>
            </a:r>
            <a:endParaRPr lang="en-US" sz="1700" dirty="0"/>
          </a:p>
        </p:txBody>
      </p:sp>
      <p:pic>
        <p:nvPicPr>
          <p:cNvPr id="8" name="Image 1" descr="diagrams/screenshot_chat_emp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83080"/>
            <a:ext cx="3657600" cy="1710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6320" y="365851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Sidebar listing all conversations, with user search.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Discussions - Screenshots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888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Messaging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One-to-One Conversation</a:t>
            </a:r>
            <a:endParaRPr lang="en-US" sz="1700" dirty="0"/>
          </a:p>
        </p:txBody>
      </p:sp>
      <p:pic>
        <p:nvPicPr>
          <p:cNvPr id="5" name="Image 0" descr="diagrams/screenshot_chat_conver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657600" cy="17218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669487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message delivery with timestamps and read status.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Group Chat</a:t>
            </a:r>
            <a:endParaRPr lang="en-US" sz="1700" dirty="0"/>
          </a:p>
        </p:txBody>
      </p:sp>
      <p:pic>
        <p:nvPicPr>
          <p:cNvPr id="8" name="Image 1" descr="diagrams/screenshot_group_cre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83080"/>
            <a:ext cx="3657600" cy="21278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6320" y="4075481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creation modal with name and member search.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Applications- where project use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34904"/>
            <a:ext cx="8046720" cy="39881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Chat Web App, built with React, Node.js, Express, and MongoDB, is a secure, responsive, and scalable web-based application that supports instant one-to-one and group messaging. This application can be used as the foundation for team-collaboration and workplace communication tools, customer-support and helpdesk chat systems, online community and social-networking platforms, and e-learning platforms that need instructor-student messaging - anywhere secure, real-time, many-to-many communication is required.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Scope of further 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vocational training project provided practical, hands-on experience in building a full-stack real-time application using the MERN stack. It reinforced concepts of schema design, secure authentication with OTP and JWT, REST API design following MVC principles, real-time communication using Socket.io, and state management in React using Context.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of Further Work: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Migrating message storage to full end-to-end encryption.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Adding delivery receipts (sent/delivered/seen) and typing indicators.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Introducing file and media sharing with secure cloud storage.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Implementing push notifications for offline users.</a:t>
            </a:r>
            <a:endParaRPr lang="en-US" sz="1500" dirty="0"/>
          </a:p>
          <a:p>
            <a:pPr marL="342900" indent="-342900" algn="l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Scaling Socket.io horizontally using a Redis adapter.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MongoDB Documentation - https://www.mongodb.com/docs/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Express.js Documentation - https://expressjs.com/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Documentation - https://react.dev/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Node.js Documentation - https://nodejs.org/docs/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Socket.io Documentation - https://socket.io/docs/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Mongoose ODM Documentation - https://mongoosejs.com/docs/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JSON Web Tokens (JWT) - https://jwt.io/introduction</a:t>
            </a:r>
            <a:endParaRPr lang="en-US" sz="1800" dirty="0"/>
          </a:p>
          <a:p>
            <a:pPr marL="342900" indent="-342900" algn="l">
              <a:lnSpc>
                <a:spcPct val="125000"/>
              </a:lnSpc>
              <a:spcAft>
                <a:spcPts val="15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Nodemailer Documentation - https://nodemailer.com/about/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Acknowledgement of Vocational Training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(Student Copy)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1371600"/>
          </a:xfrm>
          <a:prstGeom prst="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Insert scanned copy / photo of the signed Acknowledgement of Vocational Training here ]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97A0C-8C4B-47BA-9527-11B15EA74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38" y="1328468"/>
            <a:ext cx="8108830" cy="50895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Offer Letter</a:t>
            </a:r>
            <a:endParaRPr lang="en-US" sz="3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0787C8-E0B6-4CE8-9B65-358D46CB6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720" y="960120"/>
            <a:ext cx="6625087" cy="549243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Certificate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1371600"/>
          </a:xfrm>
          <a:prstGeom prst="rect">
            <a:avLst/>
          </a:prstGeom>
          <a:noFill/>
          <a:ln w="12700">
            <a:solidFill>
              <a:srgbClr val="999999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777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 Insert scanned copy of the Training Completion Certificate here ]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C8C53-146A-4B98-8D43-4DCD45BE6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13" y="960120"/>
            <a:ext cx="7660257" cy="55787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1160</Words>
  <Application>Microsoft Office PowerPoint</Application>
  <PresentationFormat>On-screen Show (4:3)</PresentationFormat>
  <Paragraphs>128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Amir Sohail</cp:lastModifiedBy>
  <cp:revision>7</cp:revision>
  <dcterms:created xsi:type="dcterms:W3CDTF">2026-07-12T20:11:13Z</dcterms:created>
  <dcterms:modified xsi:type="dcterms:W3CDTF">2026-07-17T05:28:00Z</dcterms:modified>
</cp:coreProperties>
</file>